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0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48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914400"/>
            <a:ext cx="2560320" cy="0"/>
          </a:xfrm>
          <a:prstGeom prst="line">
            <a:avLst/>
          </a:prstGeom>
          <a:noFill/>
          <a:ln w="190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72200" y="85039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417320"/>
            <a:ext cx="2560320" cy="0"/>
          </a:xfrm>
          <a:prstGeom prst="line">
            <a:avLst/>
          </a:prstGeom>
          <a:noFill/>
          <a:ln w="190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135331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920240"/>
            <a:ext cx="2560320" cy="0"/>
          </a:xfrm>
          <a:prstGeom prst="line">
            <a:avLst/>
          </a:prstGeom>
          <a:noFill/>
          <a:ln w="190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85623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2423160"/>
            <a:ext cx="2560320" cy="0"/>
          </a:xfrm>
          <a:prstGeom prst="line">
            <a:avLst/>
          </a:prstGeom>
          <a:noFill/>
          <a:ln w="190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35915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926080"/>
            <a:ext cx="2560320" cy="0"/>
          </a:xfrm>
          <a:prstGeom prst="line">
            <a:avLst/>
          </a:prstGeom>
          <a:noFill/>
          <a:ln w="1905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286207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65392" y="1335024"/>
            <a:ext cx="256032" cy="256032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4032" y="1335024"/>
            <a:ext cx="256032" cy="256032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62672" y="1335024"/>
            <a:ext cx="256032" cy="256032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1335024"/>
            <a:ext cx="256032" cy="256032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0972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THERMAL-AWARE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5720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MAPPING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3108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Quantum Circuit Reliability on NISQ Devices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1188720" cy="347472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4206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83080" y="4206240"/>
            <a:ext cx="1188720" cy="347472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783080" y="4206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4206240"/>
            <a:ext cx="1188720" cy="347472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108960" y="4206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34840" y="4206240"/>
            <a:ext cx="1188720" cy="347472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434840" y="4206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194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Project  |  Thermal-Aware Mapping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qubit mapping fails on real hardware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200400"/>
          </a:xfrm>
          <a:prstGeom prst="rect">
            <a:avLst/>
          </a:prstGeom>
          <a:solidFill>
            <a:srgbClr val="132233"/>
          </a:solidFill>
          <a:ln w="254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4320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Connectivity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are not fully connected. Gates between non-adjacent qubits require SWAP decomposition — each costing 3 CX gates.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3200400"/>
          </a:xfrm>
          <a:prstGeom prst="rect">
            <a:avLst/>
          </a:prstGeom>
          <a:solidFill>
            <a:srgbClr val="132233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7432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Heterogeneity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304288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temperatures vary across the chip. Error rates differ by 2-5x. T1/T2 times range from 50μs to 300μs on the same device.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743200" cy="3200400"/>
          </a:xfrm>
          <a:prstGeom prst="rect">
            <a:avLst/>
          </a:prstGeom>
          <a:solidFill>
            <a:srgbClr val="132233"/>
          </a:solidFill>
          <a:ln w="25400">
            <a:solidFill>
              <a:srgbClr val="FFE66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43000"/>
            <a:ext cx="2743200" cy="9144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298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Thermally Blind Routing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304288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SABRE and standard transpilers optimize only for SWAPs. They ignore which physical qubits are noisy, hot, or unstable.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5262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Result: Critical qubit operations may run on the noisiest, hottest, shortest-lived physical qubits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SWAP cost AND thermal noise simultaneously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6400800" cy="1005840"/>
          </a:xfrm>
          <a:prstGeom prst="rect">
            <a:avLst/>
          </a:prstGeom>
          <a:solidFill>
            <a:srgbClr val="132233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972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Minimize  =  α × SWAP_cost  +  β × Thermal_noise_cost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AB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α = 0.6  (connectivity weight)    β = 0.4  (thermal weight)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3931920" cy="2468880"/>
          </a:xfrm>
          <a:prstGeom prst="rect">
            <a:avLst/>
          </a:prstGeom>
          <a:solidFill>
            <a:srgbClr val="132233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Mapping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Connectivity only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SWAP minimization only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703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Thermally blind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114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May use hot/noisy qubits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2331720"/>
            <a:ext cx="3931920" cy="2468880"/>
          </a:xfrm>
          <a:prstGeom prst="rect">
            <a:avLst/>
          </a:prstGeom>
          <a:solidFill>
            <a:srgbClr val="132233"/>
          </a:solidFill>
          <a:ln w="1905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Thermal-Aware Mapping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28803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Connectivity + thermal noise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3291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SWAP + decoherence cost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37033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Stability-ranked assignment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4114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Coolest qubits selected first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15968" y="34015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THERMAL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topology as a graph + per-qubit noise profiles from calibration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57422"/>
            <a:ext cx="5120640" cy="2148840"/>
          </a:xfrm>
          <a:prstGeom prst="rect">
            <a:avLst/>
          </a:prstGeom>
          <a:solidFill>
            <a:srgbClr val="13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Topology  —  6 Edges, 5 Qubits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34440" y="1783080"/>
            <a:ext cx="1463040" cy="36576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2148840"/>
            <a:ext cx="0" cy="54864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1463040" cy="18288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2880360"/>
            <a:ext cx="1874520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1783080"/>
            <a:ext cx="0" cy="914400"/>
          </a:xfrm>
          <a:prstGeom prst="line">
            <a:avLst/>
          </a:prstGeom>
          <a:noFill/>
          <a:ln w="19050">
            <a:solidFill>
              <a:srgbClr val="FFE66D">
                <a:alpha val="80000"/>
              </a:srgb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697480" y="2148840"/>
            <a:ext cx="0" cy="731520"/>
          </a:xfrm>
          <a:prstGeom prst="line">
            <a:avLst/>
          </a:prstGeom>
          <a:noFill/>
          <a:ln w="19050">
            <a:solidFill>
              <a:srgbClr val="FFE66D">
                <a:alpha val="80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23544" y="1472184"/>
            <a:ext cx="621792" cy="621792"/>
          </a:xfrm>
          <a:prstGeom prst="ellipse">
            <a:avLst/>
          </a:prstGeom>
          <a:solidFill>
            <a:srgbClr val="4FC3F7">
              <a:alpha val="25000"/>
            </a:srgbClr>
          </a:solidFill>
          <a:ln w="6350">
            <a:solidFill>
              <a:srgbClr val="4FC3F7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1508760"/>
            <a:ext cx="548640" cy="548640"/>
          </a:xfrm>
          <a:prstGeom prst="ellipse">
            <a:avLst/>
          </a:prstGeom>
          <a:solidFill>
            <a:srgbClr val="4FC3F7"/>
          </a:solidFill>
          <a:ln w="2286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0756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86584" y="1837944"/>
            <a:ext cx="621792" cy="621792"/>
          </a:xfrm>
          <a:prstGeom prst="ellipse">
            <a:avLst/>
          </a:prstGeom>
          <a:solidFill>
            <a:srgbClr val="FF7043">
              <a:alpha val="25000"/>
            </a:srgbClr>
          </a:solidFill>
          <a:ln w="6350">
            <a:solidFill>
              <a:srgbClr val="FF7043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3160" y="1874520"/>
            <a:ext cx="548640" cy="548640"/>
          </a:xfrm>
          <a:prstGeom prst="ellipse">
            <a:avLst/>
          </a:prstGeom>
          <a:solidFill>
            <a:srgbClr val="FF7043"/>
          </a:solidFill>
          <a:ln w="2286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231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00884" y="244144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" y="2386584"/>
            <a:ext cx="621792" cy="621792"/>
          </a:xfrm>
          <a:prstGeom prst="ellipse">
            <a:avLst/>
          </a:prstGeom>
          <a:solidFill>
            <a:srgbClr val="26C6DA">
              <a:alpha val="25000"/>
            </a:srgbClr>
          </a:solidFill>
          <a:ln w="6350">
            <a:solidFill>
              <a:srgbClr val="26C6DA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423160"/>
            <a:ext cx="548640" cy="548640"/>
          </a:xfrm>
          <a:prstGeom prst="ellipse">
            <a:avLst/>
          </a:prstGeom>
          <a:solidFill>
            <a:srgbClr val="26C6DA"/>
          </a:solidFill>
          <a:ln w="2286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29900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929384" y="2569464"/>
            <a:ext cx="621792" cy="621792"/>
          </a:xfrm>
          <a:prstGeom prst="ellipse">
            <a:avLst/>
          </a:prstGeom>
          <a:solidFill>
            <a:srgbClr val="EF5350">
              <a:alpha val="25000"/>
            </a:srgbClr>
          </a:solidFill>
          <a:ln w="6350">
            <a:solidFill>
              <a:srgbClr val="EF535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65960" y="2606040"/>
            <a:ext cx="548640" cy="548640"/>
          </a:xfrm>
          <a:prstGeom prst="ellipse">
            <a:avLst/>
          </a:prstGeom>
          <a:solidFill>
            <a:srgbClr val="EF5350"/>
          </a:solidFill>
          <a:ln w="2286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9659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92808" y="317296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03904" y="1472184"/>
            <a:ext cx="621792" cy="621792"/>
          </a:xfrm>
          <a:prstGeom prst="ellipse">
            <a:avLst/>
          </a:prstGeom>
          <a:solidFill>
            <a:srgbClr val="66BB6A">
              <a:alpha val="25000"/>
            </a:srgbClr>
          </a:solidFill>
          <a:ln w="6350">
            <a:solidFill>
              <a:srgbClr val="66BB6A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1508760"/>
            <a:ext cx="548640" cy="548640"/>
          </a:xfrm>
          <a:prstGeom prst="ellipse">
            <a:avLst/>
          </a:prstGeom>
          <a:solidFill>
            <a:srgbClr val="66BB6A"/>
          </a:solidFill>
          <a:ln w="2286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67328" y="2075688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0811" y="2697480"/>
            <a:ext cx="411480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98848" y="2697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2971800"/>
            <a:ext cx="411480" cy="0"/>
          </a:xfrm>
          <a:prstGeom prst="line">
            <a:avLst/>
          </a:prstGeom>
          <a:noFill/>
          <a:ln w="19050">
            <a:solidFill>
              <a:srgbClr val="FFE66D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837176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link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40680" y="1051560"/>
            <a:ext cx="3474720" cy="2148840"/>
          </a:xfrm>
          <a:prstGeom prst="rect">
            <a:avLst/>
          </a:prstGeom>
          <a:solidFill>
            <a:srgbClr val="13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532120" y="10972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Circuit  —  5 CX Gates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04688" y="138988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70448" y="1517904"/>
            <a:ext cx="2926080" cy="0"/>
          </a:xfrm>
          <a:prstGeom prst="line">
            <a:avLst/>
          </a:prstGeom>
          <a:noFill/>
          <a:ln w="12700">
            <a:solidFill>
              <a:srgbClr val="8EABBE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04688" y="164592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70448" y="1773936"/>
            <a:ext cx="2926080" cy="0"/>
          </a:xfrm>
          <a:prstGeom prst="line">
            <a:avLst/>
          </a:prstGeom>
          <a:noFill/>
          <a:ln w="12700">
            <a:solidFill>
              <a:srgbClr val="8EABBE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04688" y="19019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70448" y="2029968"/>
            <a:ext cx="2926080" cy="0"/>
          </a:xfrm>
          <a:prstGeom prst="line">
            <a:avLst/>
          </a:prstGeom>
          <a:noFill/>
          <a:ln w="12700">
            <a:solidFill>
              <a:srgbClr val="8EABBE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04688" y="21579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70448" y="2286000"/>
            <a:ext cx="2926080" cy="0"/>
          </a:xfrm>
          <a:prstGeom prst="line">
            <a:avLst/>
          </a:prstGeom>
          <a:noFill/>
          <a:ln w="12700">
            <a:solidFill>
              <a:srgbClr val="8EABBE">
                <a:alpha val="6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04688" y="24140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70448" y="2542032"/>
            <a:ext cx="2926080" cy="0"/>
          </a:xfrm>
          <a:prstGeom prst="line">
            <a:avLst/>
          </a:prstGeom>
          <a:noFill/>
          <a:ln w="12700">
            <a:solidFill>
              <a:srgbClr val="8EABBE">
                <a:alpha val="6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80760" y="1517904"/>
            <a:ext cx="0" cy="102412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16752" y="145389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61888" y="2423160"/>
            <a:ext cx="237744" cy="237744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61888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46520" y="1773936"/>
            <a:ext cx="0" cy="512064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82512" y="170992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27648" y="2167128"/>
            <a:ext cx="237744" cy="237744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27648" y="2148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12280" y="1517904"/>
            <a:ext cx="0" cy="76809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748272" y="145389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93408" y="2167128"/>
            <a:ext cx="237744" cy="237744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93408" y="21488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040" y="2029968"/>
            <a:ext cx="0" cy="512064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14032" y="196596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59168" y="2423160"/>
            <a:ext cx="237744" cy="237744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59168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543800" y="1773936"/>
            <a:ext cx="0" cy="76809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79792" y="1709928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24928" y="2423160"/>
            <a:ext cx="237744" cy="237744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24928" y="2404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916168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281928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6647688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013448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379208" y="292608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56032" y="32461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Topology (NetworkX Graph)  |  Edges: (0,1)(1,2)(2,3)(3,4)(0,2)(1,3)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74320" y="3337560"/>
            <a:ext cx="8595360" cy="347472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73736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(K)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315468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57200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(μs)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598932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(μs)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7406640" y="3337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274320" y="3703320"/>
            <a:ext cx="8595360" cy="274320"/>
          </a:xfrm>
          <a:prstGeom prst="rect">
            <a:avLst/>
          </a:prstGeom>
          <a:solidFill>
            <a:srgbClr val="1A3A2A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004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173736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315468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45720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598932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740664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 ★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274320" y="3977640"/>
            <a:ext cx="8595360" cy="274320"/>
          </a:xfrm>
          <a:prstGeom prst="rect">
            <a:avLst/>
          </a:prstGeom>
          <a:solidFill>
            <a:srgbClr val="1B2A3B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2004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173736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315468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45720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598932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740664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solidFill>
            <a:srgbClr val="1B2A3B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2004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173736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315468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0.0025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45720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598932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740664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solidFill>
            <a:srgbClr val="1B2A3B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2004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173736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315468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457200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598932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7406640" y="4526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solidFill>
            <a:srgbClr val="3A1A1A"/>
          </a:solidFill>
          <a:ln w="6350">
            <a:solidFill>
              <a:srgbClr val="1B2A3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2004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173736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315468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45720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598932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740664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 ✗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MAPPING STRATEGIES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baseline  →  Industry standard  →  Thermal-aware innovation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3794760"/>
          </a:xfrm>
          <a:prstGeom prst="rect">
            <a:avLst/>
          </a:prstGeom>
          <a:solidFill>
            <a:srgbClr val="132233"/>
          </a:solidFill>
          <a:ln w="2540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2743200" cy="1097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Mapping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Baseline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4505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assigns logical qubits to maximally distant physical qubits. Reversed layout maximizes routing distance on the linear topology.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794760"/>
            <a:ext cx="1143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7947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SWAPs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45920" y="3794760"/>
            <a:ext cx="1143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37947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4622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45920" y="44622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54680" y="1097280"/>
            <a:ext cx="2743200" cy="3794760"/>
          </a:xfrm>
          <a:prstGeom prst="rect">
            <a:avLst/>
          </a:prstGeom>
          <a:solidFill>
            <a:srgbClr val="132233"/>
          </a:solidFill>
          <a:ln w="25400">
            <a:solidFill>
              <a:srgbClr val="FFE66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097280"/>
            <a:ext cx="2743200" cy="109728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234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291840" y="1719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SABRE Mapping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91840" y="2084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4505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Swap-based Bidirectional heuristic search. Near-optimal routing but zero thermal awareness. May use hot/unstable qubits.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3794760"/>
            <a:ext cx="1143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37947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SWAP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3794760"/>
            <a:ext cx="1143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7947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44622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0" y="44622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80760" y="1097280"/>
            <a:ext cx="2743200" cy="3794760"/>
          </a:xfrm>
          <a:prstGeom prst="rect">
            <a:avLst/>
          </a:prstGeom>
          <a:solidFill>
            <a:srgbClr val="132233"/>
          </a:solidFill>
          <a:ln w="2540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097280"/>
            <a:ext cx="2743200" cy="10972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2344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217920" y="17190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Thermal-Aware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17920" y="20848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Innovation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450592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coolest, most stable qubits first. Uses SABRE for routing after thermally optimal initial layout assignment.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3794760"/>
            <a:ext cx="1143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7947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SWAPs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98080" y="3794760"/>
            <a:ext cx="1143000" cy="685800"/>
          </a:xfrm>
          <a:prstGeom prst="rect">
            <a:avLst/>
          </a:prstGeom>
          <a:solidFill>
            <a:srgbClr val="1B2A3B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379476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44622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98080" y="44622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6-module pipeline from circuit input to optimized output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371600"/>
          </a:xfrm>
          <a:prstGeom prst="rect">
            <a:avLst/>
          </a:prstGeom>
          <a:solidFill>
            <a:srgbClr val="13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0972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circuit_loader.py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8105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Bell, GHZ, QFT, Random circuits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35808" y="170078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43200" cy="1371600"/>
          </a:xfrm>
          <a:prstGeom prst="rect">
            <a:avLst/>
          </a:prstGeom>
          <a:solidFill>
            <a:srgbClr val="132233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109728" cy="1371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topology_model.py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18105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hardware graph, connectivity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61888" y="170078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43200" cy="1371600"/>
          </a:xfrm>
          <a:prstGeom prst="rect">
            <a:avLst/>
          </a:prstGeom>
          <a:solidFill>
            <a:srgbClr val="132233"/>
          </a:solidFill>
          <a:ln w="19050">
            <a:solidFill>
              <a:srgbClr val="FFE66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109728" cy="137160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371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thermal_model.py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7648" y="18105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noise data → Qiskit NoiseModel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2743200" cy="1371600"/>
          </a:xfrm>
          <a:prstGeom prst="rect">
            <a:avLst/>
          </a:prstGeom>
          <a:solidFill>
            <a:srgbClr val="132233"/>
          </a:solidFill>
          <a:ln w="1905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0360"/>
            <a:ext cx="109728" cy="13716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mapping_algorithm.py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35021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ThermalAwareMapper + RandomMapper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35808" y="339242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371600"/>
          </a:xfrm>
          <a:prstGeom prst="rect">
            <a:avLst/>
          </a:prstGeom>
          <a:solidFill>
            <a:srgbClr val="132233"/>
          </a:solidFill>
          <a:ln w="1905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80360"/>
            <a:ext cx="109728" cy="137160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9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optimizer.py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01568" y="35021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transpile() for all 3 methods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61888" y="339242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2743200" cy="1371600"/>
          </a:xfrm>
          <a:prstGeom prst="rect">
            <a:avLst/>
          </a:prstGeom>
          <a:solidFill>
            <a:srgbClr val="132233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880360"/>
            <a:ext cx="109728" cy="13716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evaluator.py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27648" y="350215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via ideal vs noisy simulation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747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</a:rPr>
              <a:t>↓  ↓  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286000" y="4617720"/>
            <a:ext cx="4572000" cy="411480"/>
          </a:xfrm>
          <a:prstGeom prst="rect">
            <a:avLst/>
          </a:prstGeom>
          <a:solidFill>
            <a:srgbClr val="023E8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0" y="4617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→  Terminal Report  +  4 PNG Plots saved to results/graphs/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Thermal-aware mapping achieves highest fidelity despite modest SWAP overhead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411480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Count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0332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Score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9496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8660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554480"/>
            <a:ext cx="8595360" cy="475488"/>
          </a:xfrm>
          <a:prstGeom prst="rect">
            <a:avLst/>
          </a:prstGeom>
          <a:solidFill>
            <a:srgbClr val="3A1A1A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5544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15544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15544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15544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15544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✗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057400"/>
            <a:ext cx="8595360" cy="475488"/>
          </a:xfrm>
          <a:prstGeom prst="rect">
            <a:avLst/>
          </a:prstGeom>
          <a:solidFill>
            <a:srgbClr val="3A3A00"/>
          </a:solidFill>
          <a:ln w="6350">
            <a:solidFill>
              <a:srgbClr val="FFE6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057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2057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2057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2057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86600" y="2057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2560320"/>
            <a:ext cx="8595360" cy="475488"/>
          </a:xfrm>
          <a:prstGeom prst="rect">
            <a:avLst/>
          </a:prstGeom>
          <a:solidFill>
            <a:srgbClr val="1A3A2A"/>
          </a:solidFill>
          <a:ln w="6350">
            <a:solidFill>
              <a:srgbClr val="4ECD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5603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11680" y="25603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03320" y="25603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5603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25603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98245" y="31738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Count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29000"/>
            <a:ext cx="640080" cy="1097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172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45537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71600" y="4369526"/>
            <a:ext cx="640080" cy="156754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411349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25880" y="45537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0" y="4212771"/>
            <a:ext cx="640080" cy="313509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3956739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40280" y="45537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303520" y="4224528"/>
            <a:ext cx="777240" cy="3017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39684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57800" y="45537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0" y="3758184"/>
            <a:ext cx="777240" cy="768096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0" y="3502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45537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98080" y="3593592"/>
            <a:ext cx="777240" cy="93268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33375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452360" y="45537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4828032"/>
            <a:ext cx="8595360" cy="182880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82803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1 extra SWAP over SABRE is offset by cooler qubit quality — Thermal wins on Fidelity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— GENERATED GRAPHS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plots produced by running  python main.py  on the 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5577840" cy="3657600"/>
          </a:xfrm>
          <a:prstGeom prst="rect">
            <a:avLst/>
          </a:prstGeom>
          <a:solidFill>
            <a:srgbClr val="13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full_summary.png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11880" y="1051560"/>
            <a:ext cx="2103120" cy="256032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051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Count  ·  Noise Score  ·  Fidelity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35040" y="1005840"/>
            <a:ext cx="2880360" cy="3657600"/>
          </a:xfrm>
          <a:prstGeom prst="rect">
            <a:avLst/>
          </a:prstGeom>
          <a:solidFill>
            <a:srgbClr val="132233"/>
          </a:solidFill>
          <a:ln w="19050">
            <a:solidFill>
              <a:srgbClr val="FFE66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126480" y="1051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topology_graph.png</a:t>
            </a:r>
            <a:endParaRPr lang="en-US" sz="900" dirty="0"/>
          </a:p>
        </p:txBody>
      </p:sp>
      <p:pic>
        <p:nvPicPr>
          <p:cNvPr id="12" name="Image 1" descr="/home/claude/topology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371600"/>
            <a:ext cx="2788920" cy="31546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8600" y="4736592"/>
            <a:ext cx="8686800" cy="292608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4745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Random: 7 SWAPs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468880" y="4745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SABRE: 1 SWAP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617720" y="4745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Thermal: 2 SWAPs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766560" y="4745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Fidelity: Thermal (0.974)</a:t>
            </a:r>
            <a:endParaRPr lang="en-US" sz="9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4C9B7AE-9737-4440-DBF4-2A386BD61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399032"/>
            <a:ext cx="5577840" cy="3221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743200" cy="1508760"/>
          </a:xfrm>
          <a:prstGeom prst="rect">
            <a:avLst/>
          </a:prstGeom>
          <a:solidFill>
            <a:srgbClr val="13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27432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947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QuantumCircuit, transpile(), CouplingMap, SabreSwap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143000"/>
            <a:ext cx="2743200" cy="1508760"/>
          </a:xfrm>
          <a:prstGeom prst="rect">
            <a:avLst/>
          </a:prstGeom>
          <a:solidFill>
            <a:srgbClr val="132233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143000"/>
            <a:ext cx="2743200" cy="914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Aer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947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AerSimulator, NoiseModel, thermal_relaxation_error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143000"/>
            <a:ext cx="2743200" cy="1508760"/>
          </a:xfrm>
          <a:prstGeom prst="rect">
            <a:avLst/>
          </a:prstGeom>
          <a:solidFill>
            <a:srgbClr val="132233"/>
          </a:solidFill>
          <a:ln w="19050">
            <a:solidFill>
              <a:srgbClr val="FFE66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43000"/>
            <a:ext cx="2743200" cy="9144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Layer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9476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topology, shortest paths, neighbor lookup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926080"/>
            <a:ext cx="2743200" cy="1508760"/>
          </a:xfrm>
          <a:prstGeom prst="rect">
            <a:avLst/>
          </a:prstGeom>
          <a:solidFill>
            <a:srgbClr val="132233"/>
          </a:solidFill>
          <a:ln w="1905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926080"/>
            <a:ext cx="2743200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Layer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7307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operations, fidelity calculations, arrays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54680" y="2926080"/>
            <a:ext cx="2743200" cy="1508760"/>
          </a:xfrm>
          <a:prstGeom prst="rect">
            <a:avLst/>
          </a:prstGeom>
          <a:solidFill>
            <a:srgbClr val="132233"/>
          </a:solidFill>
          <a:ln w="19050">
            <a:solidFill>
              <a:srgbClr val="CE93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26080"/>
            <a:ext cx="2743200" cy="9144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91840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7307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thermal_noise.csv, manages results table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926080"/>
            <a:ext cx="2743200" cy="1508760"/>
          </a:xfrm>
          <a:prstGeom prst="rect">
            <a:avLst/>
          </a:prstGeom>
          <a:solidFill>
            <a:srgbClr val="132233"/>
          </a:solidFill>
          <a:ln w="19050">
            <a:solidFill>
              <a:srgbClr val="FF6B6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2926080"/>
            <a:ext cx="274320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+ Seaborn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17920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7307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PNG charts: SWAP, Noise, Fidelity, Summary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977640"/>
          </a:xfrm>
          <a:prstGeom prst="rect">
            <a:avLst/>
          </a:prstGeom>
          <a:solidFill>
            <a:srgbClr val="13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Applies to IBM Quantum, Google Sycamore, IonQ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NISQ devices limited by coherence depth ~333 gate layers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334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Qubit error rates vary 2-5x across same chip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16382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Current IBM transpiler ignores thermal profiles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69417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This approach is a genuine research direction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3931920" cy="3977640"/>
          </a:xfrm>
          <a:prstGeom prst="rect">
            <a:avLst/>
          </a:prstGeom>
          <a:solidFill>
            <a:srgbClr val="132233"/>
          </a:solidFill>
          <a:ln w="19050">
            <a:solidFill>
              <a:srgbClr val="4ECDC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960120"/>
            <a:ext cx="3931920" cy="914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0789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15727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Dynamic thermal remapping mid-circuit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IBM calibration data via IBMRuntimeService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6334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Pareto optimization of SWAP vs thermal 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16382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Crosstalk-aware noise modeling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69417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RL agent for thermal-aware routing policy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023E8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144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qubit mapping algorithm that assigns quantum operations to the 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coolest, most stable physical qubits first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reducing thermal noise errors beyond what standard routing achieves.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9144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noise is spatially heterogeneous on real NISQ devices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82296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78608"/>
            <a:ext cx="91440" cy="566928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786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5786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transpilers are thermally blind — a real gap to fill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36976"/>
            <a:ext cx="82296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36976"/>
            <a:ext cx="91440" cy="56692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3697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23697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Thermal-aware mapping improves fidelity: 0.974 vs 0.968 (SABRE)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8229600" cy="566928"/>
          </a:xfrm>
          <a:prstGeom prst="rect">
            <a:avLst/>
          </a:prstGeom>
          <a:solidFill>
            <a:srgbClr val="132233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95344"/>
            <a:ext cx="91440" cy="56692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953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89534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Groundwork for dynamic remapping and real hardware integration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4400" y="4846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A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Thermal-Aware Qubit Mapping Optimization  |  Quantum Computing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908</Words>
  <Application>Microsoft Office PowerPoint</Application>
  <PresentationFormat>On-screen Show (16:9)</PresentationFormat>
  <Paragraphs>255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Thermal-Aware Qubit Mapping Optimization</dc:title>
  <dc:subject>PptxGenJS Presentation</dc:subject>
  <dc:creator>PptxGenJS</dc:creator>
  <cp:lastModifiedBy>Aarush Mishra</cp:lastModifiedBy>
  <cp:revision>4</cp:revision>
  <dcterms:created xsi:type="dcterms:W3CDTF">2026-03-14T04:13:41Z</dcterms:created>
  <dcterms:modified xsi:type="dcterms:W3CDTF">2026-03-16T10:25:20Z</dcterms:modified>
</cp:coreProperties>
</file>